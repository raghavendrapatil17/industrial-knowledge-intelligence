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tech. A plant runs 7-12 disconnected document systems; when something fails the answer is scattered and nobody cross-references it. We built a system that reads all of it, links it, and answers any engineer in seconds — and keeps that knowledge when the senior engineer retires.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these four numbers. 35% and 25% are the money stats — time lost now, knowledge lost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us from 'another RAG chatbot'. The golden thread proves cross-document linking is real, not hoped-for.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human line: when the senior engineer retires, the knowledge doesn't retire with them. Then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5544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STATEMENT #8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Asset &amp; Operations Brain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 reads every plant document — drawings, work orders, near-misses, </a:t>
            </a:r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— links it, and answers any engineer in seconds with cited, trustworthy answers.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Industrial Knowledge Intelligence  ·  NLP / RAG / Knowledge Graph / LLM Agents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 · 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fragments faster than plants can capture 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9611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 engineer's time is lost searching for information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2024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8503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in the average large plant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6616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NASSCOM–EY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18–22%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7395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traced to that fragmentation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35508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6840" y="2148840"/>
            <a:ext cx="2615184" cy="2743200"/>
          </a:xfrm>
          <a:prstGeom prst="roundRect">
            <a:avLst>
              <a:gd name="adj" fmla="val 3147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52560" y="2468880"/>
            <a:ext cx="2523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62872" y="35661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experienced engineers retire within a decade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0" y="4434840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 exists. The intelligence layer that connects it does not — that is what we built.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TOOLS FAIL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finds documents. Engineers need answers.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systems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work orders, procedures and inspections each live in their own system. No tool spans them.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27448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27448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cross-linking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7448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pump appears in five documents that were never connected — so the full failure story is invisible.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74736" y="2148840"/>
            <a:ext cx="3529584" cy="2468880"/>
          </a:xfrm>
          <a:prstGeom prst="roundRect">
            <a:avLst>
              <a:gd name="adj" fmla="val 333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94776" y="2496312"/>
            <a:ext cx="457200" cy="457200"/>
          </a:xfrm>
          <a:prstGeom prst="ellipse">
            <a:avLst/>
          </a:prstGeom>
          <a:solidFill>
            <a:srgbClr val="1E2735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4776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94776" y="3081528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cliff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94776" y="35661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senior engineers know is undocumented. When they retire, it is gone and cannot be recovered.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“Data present, but unacted upon.”</a:t>
            </a:r>
            <a:pPr indent="0" marL="0">
              <a:buNone/>
            </a:pPr>
            <a:r>
              <a:rPr lang="en-US" sz="15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the pattern behind repeated industrial incidents.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knowledge graph. Five specialist agents.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graph powers all five — one brain, many lenses.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 Knowledge Graph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50976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any document, extracts entities, links them into a live graph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416552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48072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Copilot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727448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Q&amp;A with cited, confidence-scored answers in ~10 ms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85632" y="2990088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8485632" y="2990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24544" y="297180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RCA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03920" y="3630168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Per-asset health, failure timeline, root cause &amp; predictive actions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Intelligence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950976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/ Factory Act / PESO coverage matrix with gap detection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416552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4901184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4901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48072" y="4882896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727448" y="5541264"/>
            <a:ext cx="29900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failure patterns across the plant's whole history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93024" y="4608576"/>
            <a:ext cx="3538728" cy="1691640"/>
          </a:xfrm>
          <a:prstGeom prst="roundRect">
            <a:avLst>
              <a:gd name="adj" fmla="val 4865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03920" y="4882896"/>
            <a:ext cx="2990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Platform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503920" y="5385816"/>
            <a:ext cx="2990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upload · Asset 360 · audit exports · voice query · command palette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·  TECHNICAL EXCELLENCE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link, retrieve, cite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scans · sheets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6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97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89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89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· chunk · NER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550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+ relationships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01100" y="2994660"/>
            <a:ext cx="36576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12580" y="2423160"/>
            <a:ext cx="2400300" cy="1143000"/>
          </a:xfrm>
          <a:prstGeom prst="roundRect">
            <a:avLst>
              <a:gd name="adj" fmla="val 72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04020" y="2679192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304020" y="3099816"/>
            <a:ext cx="22174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graph traversal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3593592"/>
            <a:ext cx="0" cy="384048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" y="406908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601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source sentence, with a confidence score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2976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view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6177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links, visualised and explorable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0" cy="868680"/>
          </a:xfrm>
          <a:prstGeom prst="line">
            <a:avLst/>
          </a:prstGeom>
          <a:noFill/>
          <a:ln w="12700">
            <a:solidFill>
              <a:srgbClr val="2A36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43799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 · web + mobile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75320" y="48188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RCA · compliance · lessons · overview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rank-bm25 · networkx · offline extractive fallback + LLM circuit-breaker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 ·  INNOVATION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PDF chatbot — a linked operations brain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thread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equipment tag — PUMP-204 — physically linked across every document type that mentions it: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flipH="1" flipV="1">
            <a:off x="1463040" y="4114800"/>
            <a:ext cx="192024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1280160" y="4754880"/>
            <a:ext cx="210312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291840" y="4754880"/>
            <a:ext cx="91440" cy="9601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4754880"/>
            <a:ext cx="1920240" cy="50292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383280" y="4114800"/>
            <a:ext cx="2057400" cy="640080"/>
          </a:xfrm>
          <a:prstGeom prst="line">
            <a:avLst/>
          </a:prstGeom>
          <a:noFill/>
          <a:ln w="19050">
            <a:solidFill>
              <a:srgbClr val="2A36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 '19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88920" y="55504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88920" y="55504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Near-miss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5093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5093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37760" y="3950208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9502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proc.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880360" y="4434840"/>
            <a:ext cx="1005840" cy="640080"/>
          </a:xfrm>
          <a:prstGeom prst="ellipse">
            <a:avLst/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88036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PUMP-204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92240" y="210312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66560" y="251460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230428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reasoning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315200" y="2706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assembles the full story lexical search alone would miss.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0" y="342900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0" y="384048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6301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to the sentence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7315200" y="40325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to the exact supporting sentence in the source — not just the file.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92240" y="4754880"/>
            <a:ext cx="5669280" cy="1188720"/>
          </a:xfrm>
          <a:prstGeom prst="roundRect">
            <a:avLst>
              <a:gd name="adj" fmla="val 6923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766560" y="5166360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95604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self-updating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7315200" y="53583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 new document and it is entity-extracted, linked, and queryable instantly.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 ·  TECHNICAL EXCELLENCE + BUSINESS IMPACT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domain-expert benchmark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2044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time-to-answer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6D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0936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coverage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06840" y="214884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52560" y="2377440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C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98280" y="317296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one graph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886200"/>
            <a:ext cx="10972800" cy="2331720"/>
          </a:xfrm>
          <a:prstGeom prst="roundRect">
            <a:avLst>
              <a:gd name="adj" fmla="val 3529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058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hit-rate vs. today's keyword search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system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1" name="Shape 19"/>
          <p:cNvSpPr/>
          <p:nvPr/>
        </p:nvSpPr>
        <p:spPr>
          <a:xfrm>
            <a:off x="3749040" y="468172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11109960" y="4681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394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749040" y="5413248"/>
            <a:ext cx="7223760" cy="457200"/>
          </a:xfrm>
          <a:prstGeom prst="roundRect">
            <a:avLst>
              <a:gd name="adj" fmla="val 12000"/>
            </a:avLst>
          </a:prstGeom>
          <a:solidFill>
            <a:srgbClr val="1E273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49040" y="5413248"/>
            <a:ext cx="4839919" cy="457200"/>
          </a:xfrm>
          <a:prstGeom prst="roundRect">
            <a:avLst>
              <a:gd name="adj" fmla="val 12000"/>
            </a:avLst>
          </a:prstGeom>
          <a:solidFill>
            <a:srgbClr val="63707E"/>
          </a:solidFill>
          <a:ln/>
        </p:spPr>
      </p:sp>
      <p:sp>
        <p:nvSpPr>
          <p:cNvPr id="26" name="Text 24"/>
          <p:cNvSpPr/>
          <p:nvPr/>
        </p:nvSpPr>
        <p:spPr>
          <a:xfrm>
            <a:off x="11109960" y="54132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00800"/>
            <a:ext cx="11338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12 expert questions. We also answer in ~10 ms vs. hours of manual search across 7–12 systems.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ROADMAP  ·  SCALABILITY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architecture, any asset-heavy sector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E2735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50976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refinery, a data centre, or a power plant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rebuilds itself from their documents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 — the pipeline is content-driven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8304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on the same graph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18304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sensor / SCADA fusion into the graph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 computer-vision digitisation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Multi-plant, multi-language field access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74736" y="214884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485632" y="2459736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85632" y="306324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deployment · REST API · Swagger docs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automated tests · structured logging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fallback + LLM circuit-breaker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94944"/>
            <a:ext cx="128016" cy="128016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judging criterion, covered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41448"/>
            <a:ext cx="164592" cy="164592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14884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2148840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knowledge graph + graph-augmented retrieval — not plain RAG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08376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300984"/>
            <a:ext cx="164592" cy="164592"/>
          </a:xfrm>
          <a:prstGeom prst="ellipse">
            <a:avLst/>
          </a:prstGeom>
          <a:solidFill>
            <a:srgbClr val="4CC9F0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008376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06240" y="3008376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the 35% search-time and 18–22% downtime losses; captures retiring knowledge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67912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4160520"/>
            <a:ext cx="164592" cy="164592"/>
          </a:xfrm>
          <a:prstGeom prst="ellipse">
            <a:avLst/>
          </a:prstGeom>
          <a:solidFill>
            <a:srgbClr val="46D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386791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Excellence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06240" y="3867912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retrieval, grounded citations, benchmark, tests, Docker, resilience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727448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32688" y="5020056"/>
            <a:ext cx="164592" cy="164592"/>
          </a:xfrm>
          <a:prstGeom prst="ellipse">
            <a:avLst/>
          </a:prstGeom>
          <a:solidFill>
            <a:srgbClr val="F4C04A"/>
          </a:solidFill>
          <a:ln/>
        </p:spPr>
      </p:sp>
      <p:sp>
        <p:nvSpPr>
          <p:cNvPr id="19" name="Text 17"/>
          <p:cNvSpPr/>
          <p:nvPr/>
        </p:nvSpPr>
        <p:spPr>
          <a:xfrm>
            <a:off x="1280160" y="472744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06240" y="4727448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Domain-agnostic pipeline — same brain for any asset-heavy sector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586984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18202B"/>
          </a:solidFill>
          <a:ln w="12700">
            <a:solidFill>
              <a:srgbClr val="2A3644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" y="5879592"/>
            <a:ext cx="164592" cy="164592"/>
          </a:xfrm>
          <a:prstGeom prst="ellipse">
            <a:avLst/>
          </a:prstGeom>
          <a:solidFill>
            <a:srgbClr val="FF8C5F"/>
          </a:solidFill>
          <a:ln/>
        </p:spPr>
      </p:sp>
      <p:sp>
        <p:nvSpPr>
          <p:cNvPr id="23" name="Text 21"/>
          <p:cNvSpPr/>
          <p:nvPr/>
        </p:nvSpPr>
        <p:spPr>
          <a:xfrm>
            <a:off x="1280160" y="55869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206240" y="5586984"/>
            <a:ext cx="7223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UI, clickable citations, voice, command palette, mobile-ready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634472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74520"/>
            <a:ext cx="960120" cy="960120"/>
          </a:xfrm>
          <a:prstGeom prst="roundRect">
            <a:avLst>
              <a:gd name="adj" fmla="val 15238"/>
            </a:avLst>
          </a:prstGeom>
          <a:solidFill>
            <a:srgbClr val="FF6B35"/>
          </a:solidFill>
          <a:ln/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18745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stays — even when the engineer retires.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Intelligence  ·  Unified Asset &amp; Operations Brain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7A4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(public GitHub + README)  ·  live demo  ·  </a:t>
            </a:r>
            <a:pPr indent="0" marL="0">
              <a:buNone/>
            </a:pPr>
            <a:r>
              <a:rPr lang="en-US" sz="1300" b="1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during the hackathon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Industrial Knowledge Intelligence</dc:title>
  <dc:subject>PptxGenJS Presentation</dc:subject>
  <dc:creator>ET AI Hackathon Team</dc:creator>
  <cp:lastModifiedBy>ET AI Hackathon Team</cp:lastModifiedBy>
  <cp:revision>1</cp:revision>
  <dcterms:created xsi:type="dcterms:W3CDTF">2026-07-02T10:27:25Z</dcterms:created>
  <dcterms:modified xsi:type="dcterms:W3CDTF">2026-07-02T10:27:25Z</dcterms:modified>
</cp:coreProperties>
</file>