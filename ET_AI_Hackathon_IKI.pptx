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pain, not the tech. A plant runs 7-12 disconnected document systems; when something fails the answer is scattered and nobody cross-references it. We built a system that reads all of it, links it, and answers any engineer in seconds — and keeps that knowledge when the senior engineer retires.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these four numbers. 35% and 25% are the money stats — time lost now, knowledge lost forever.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'another RAG chatbot'. The golden thread proves cross-document linking is real, not hoped-for.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human line: when the senior engineer retires, the knowledge doesn't retire with them. Then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6B35"/>
          </a:solidFill>
          <a:ln/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15544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2026  ·  PROBLEM STATEMENT #8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Intelligence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Asset &amp; Operations Brain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45262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knowledge graph reads every plant document — drawings, work orders, near-misses, </a:t>
            </a:r>
            <a:pPr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 — links it, and answers any engineer in seconds with cited, trustworthy answers.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897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raghupatil9036</a:t>
            </a:r>
            <a:pPr indent="0" marL="0"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Raghavendra S Patil   ·   Pallavi C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Industrial Knowledge Intelligence  ·  NLP / RAG / Knowledge Graph / LLM Agents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 ·  BUSINESS IMPACT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fragments faster than plants can capture it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9611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 engineer's time is lost searching for information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2024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2900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7–12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68503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document systems in the average large plant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56616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NASSCOM–EY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6364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18–22%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7395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unplanned downtime traced to that fragmentation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35508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Research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0684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05256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~25%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26287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experienced engineers retire within a decade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4400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technology exists. The intelligence layer that connects it does not — that is what we built.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EXISTING TOOLS FAIL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finds documents. Engineers need answers.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9584" cy="2468880"/>
          </a:xfrm>
          <a:prstGeom prst="roundRect">
            <a:avLst>
              <a:gd name="adj" fmla="val 333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496312"/>
            <a:ext cx="457200" cy="457200"/>
          </a:xfrm>
          <a:prstGeom prst="ellipse">
            <a:avLst/>
          </a:prstGeom>
          <a:solidFill>
            <a:srgbClr val="1E2735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08152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systems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566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P&amp;IDs, work orders, procedures and inspections each live in their own system. No tool spans them.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407408" y="2148840"/>
            <a:ext cx="3529584" cy="2468880"/>
          </a:xfrm>
          <a:prstGeom prst="roundRect">
            <a:avLst>
              <a:gd name="adj" fmla="val 333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27448" y="2496312"/>
            <a:ext cx="457200" cy="457200"/>
          </a:xfrm>
          <a:prstGeom prst="ellipse">
            <a:avLst/>
          </a:prstGeom>
          <a:solidFill>
            <a:srgbClr val="1E2735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7448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27448" y="308152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cross-linking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27448" y="3566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pump appears in five documents that were never connected — so the full failure story is invisible.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74736" y="2148840"/>
            <a:ext cx="3529584" cy="2468880"/>
          </a:xfrm>
          <a:prstGeom prst="roundRect">
            <a:avLst>
              <a:gd name="adj" fmla="val 333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94776" y="2496312"/>
            <a:ext cx="457200" cy="457200"/>
          </a:xfrm>
          <a:prstGeom prst="ellipse">
            <a:avLst/>
          </a:prstGeom>
          <a:solidFill>
            <a:srgbClr val="1E2735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94776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94776" y="308152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cliff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94776" y="3566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senior engineers know is undocumented. When they retire, it is gone and cannot be recovered.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4983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“Data present, but unacted upon.”</a:t>
            </a:r>
            <a:pPr indent="0" marL="0">
              <a:buNone/>
            </a:pPr>
            <a:r>
              <a:rPr lang="en-US" sz="15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the pattern behind repeated industrial incidents.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knowledge graph. Five specialist agents.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graph powers all five — one brain, many lenses.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990088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97180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&amp; Knowledge Graph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50976" y="3630168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PDF, spreadsheets, email, scanned images &amp; P&amp;IDs (OCR + layout); links into a live graph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16552" y="2697480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2990088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48072" y="297180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Copilot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727448" y="3630168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Q&amp;A with cited, confidence-scored answers in ~10 ms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85632" y="2990088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8485632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24544" y="297180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&amp; RCA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03920" y="3630168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Per-asset health, timeline &amp; root cause, fused with a live sensor feed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608576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" y="4901184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4901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882896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Intelligence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950976" y="5541264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OISD / Factory Act / PESO coverage matrix with gap detection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416552" y="4608576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4901184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4901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148072" y="4882896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4727448" y="5541264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failure patterns, matched to known industry failure modes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93024" y="4608576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503920" y="4882896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Platform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503920" y="5385816"/>
            <a:ext cx="2990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ingest · grounded answers · audit trail · Asset 360 · voice · command palette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 ·  TECHNICAL EXCELLENCE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link, retrieve, cite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sheets · email · scans (OCR)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86100" y="2994660"/>
            <a:ext cx="365760" cy="0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975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890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890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· chunk · NER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0" y="2994660"/>
            <a:ext cx="365760" cy="0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550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+ relationships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01100" y="2994660"/>
            <a:ext cx="365760" cy="0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125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040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3040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+ graph traversal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26480" y="3593592"/>
            <a:ext cx="0" cy="384048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40080" y="4069080"/>
            <a:ext cx="10972800" cy="1417320"/>
          </a:xfrm>
          <a:prstGeom prst="roundRect">
            <a:avLst>
              <a:gd name="adj" fmla="val 580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60120" y="437997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60120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to the source sentence, with a confidence score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297680" y="4343400"/>
            <a:ext cx="0" cy="868680"/>
          </a:xfrm>
          <a:prstGeom prst="line">
            <a:avLst/>
          </a:prstGeom>
          <a:noFill/>
          <a:ln w="12700">
            <a:solidFill>
              <a:srgbClr val="2A36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437997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view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617720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links, visualised and explorable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955280" y="4343400"/>
            <a:ext cx="0" cy="868680"/>
          </a:xfrm>
          <a:prstGeom prst="line">
            <a:avLst/>
          </a:prstGeom>
          <a:noFill/>
          <a:ln w="12700">
            <a:solidFill>
              <a:srgbClr val="2A36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437997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agents · web + mobile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75320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RCA · compliance · lessons · overview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rank-bm25 · networkx · offline extractive fallback + LLM circuit-breaker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  ·  INNOVATION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PDF chatbot — a linked operations brain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331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thread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equipment tag — PUMP-204 — physically linked across every document type that mentions it: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 flipH="1" flipV="1">
            <a:off x="1463040" y="4114800"/>
            <a:ext cx="1920240" cy="64008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1280160" y="4754880"/>
            <a:ext cx="2103120" cy="50292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3291840" y="4754880"/>
            <a:ext cx="91440" cy="96012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3280" y="4754880"/>
            <a:ext cx="1920240" cy="50292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383280" y="4114800"/>
            <a:ext cx="2057400" cy="64008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3950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950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5093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093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 '19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88920" y="55504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88920" y="55504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Near-miss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00600" y="5093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5093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37760" y="3950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3950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proc.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880360" y="4434840"/>
            <a:ext cx="1005840" cy="640080"/>
          </a:xfrm>
          <a:prstGeom prst="ellipse">
            <a:avLst/>
          </a:prstGeom>
          <a:solidFill>
            <a:srgbClr val="FF6B35"/>
          </a:solidFill>
          <a:ln/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88036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PUMP-204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92240" y="2103120"/>
            <a:ext cx="5669280" cy="1188720"/>
          </a:xfrm>
          <a:prstGeom prst="roundRect">
            <a:avLst>
              <a:gd name="adj" fmla="val 692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766560" y="2514600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0" y="230428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reasoning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7315200" y="270662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traversal assembles the full story lexical search alone would miss.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92240" y="3429000"/>
            <a:ext cx="5669280" cy="1188720"/>
          </a:xfrm>
          <a:prstGeom prst="roundRect">
            <a:avLst>
              <a:gd name="adj" fmla="val 692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0" y="3840480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0" y="363016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to the sentence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7315200" y="403250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links to the exact supporting sentence in the source — not just the file.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92240" y="4754880"/>
            <a:ext cx="5669280" cy="1188720"/>
          </a:xfrm>
          <a:prstGeom prst="roundRect">
            <a:avLst>
              <a:gd name="adj" fmla="val 692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766560" y="5166360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0" y="495604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self-updating</a:t>
            </a:r>
            <a:endParaRPr lang="en-US" sz="1550" dirty="0"/>
          </a:p>
        </p:txBody>
      </p:sp>
      <p:sp>
        <p:nvSpPr>
          <p:cNvPr id="36" name="Text 34"/>
          <p:cNvSpPr/>
          <p:nvPr/>
        </p:nvSpPr>
        <p:spPr>
          <a:xfrm>
            <a:off x="7315200" y="53583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any format — PDF, spreadsheet, email, even a scanned photo (OCR) — entity-extracted, linked, queryable instantly.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 ·  TECHNICAL EXCELLENCE + BUSINESS IMPACT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 domain-expert benchmark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hit-rate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2044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time-to-answer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6364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6D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0936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coverage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0684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05256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4C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9828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on one graph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886200"/>
            <a:ext cx="10972800" cy="2331720"/>
          </a:xfrm>
          <a:prstGeom prst="roundRect">
            <a:avLst>
              <a:gd name="adj" fmla="val 3529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058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hit-rate vs. today's keyword search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system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49040" y="4681728"/>
            <a:ext cx="7223760" cy="457200"/>
          </a:xfrm>
          <a:prstGeom prst="roundRect">
            <a:avLst>
              <a:gd name="adj" fmla="val 12000"/>
            </a:avLst>
          </a:prstGeom>
          <a:solidFill>
            <a:srgbClr val="1E2735"/>
          </a:solidFill>
          <a:ln/>
        </p:spPr>
      </p:sp>
      <p:sp>
        <p:nvSpPr>
          <p:cNvPr id="21" name="Shape 19"/>
          <p:cNvSpPr/>
          <p:nvPr/>
        </p:nvSpPr>
        <p:spPr>
          <a:xfrm>
            <a:off x="3749040" y="4681728"/>
            <a:ext cx="7223760" cy="457200"/>
          </a:xfrm>
          <a:prstGeom prst="roundRect">
            <a:avLst>
              <a:gd name="adj" fmla="val 12000"/>
            </a:avLst>
          </a:prstGeom>
          <a:solidFill>
            <a:srgbClr val="FF6B35"/>
          </a:solidFill>
          <a:ln/>
        </p:spPr>
      </p:sp>
      <p:sp>
        <p:nvSpPr>
          <p:cNvPr id="22" name="Text 20"/>
          <p:cNvSpPr/>
          <p:nvPr/>
        </p:nvSpPr>
        <p:spPr>
          <a:xfrm>
            <a:off x="11109960" y="46817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5394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749040" y="5413248"/>
            <a:ext cx="7223760" cy="457200"/>
          </a:xfrm>
          <a:prstGeom prst="roundRect">
            <a:avLst>
              <a:gd name="adj" fmla="val 12000"/>
            </a:avLst>
          </a:prstGeom>
          <a:solidFill>
            <a:srgbClr val="1E273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49040" y="5413248"/>
            <a:ext cx="4839919" cy="457200"/>
          </a:xfrm>
          <a:prstGeom prst="roundRect">
            <a:avLst>
              <a:gd name="adj" fmla="val 12000"/>
            </a:avLst>
          </a:prstGeom>
          <a:solidFill>
            <a:srgbClr val="63707E"/>
          </a:solidFill>
          <a:ln/>
        </p:spPr>
      </p:sp>
      <p:sp>
        <p:nvSpPr>
          <p:cNvPr id="26" name="Text 24"/>
          <p:cNvSpPr/>
          <p:nvPr/>
        </p:nvSpPr>
        <p:spPr>
          <a:xfrm>
            <a:off x="11109960" y="54132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corpus, 12 expert questions. We also answer in ~10 ms vs. hours of manual search across 7–12 systems.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ROADMAP  ·  SCALABILITY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architecture, any asset-heavy sector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2459736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Domain-agnostic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50976" y="306324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a refinery, a data centre, or a power plant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rebuilds itself from their documents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retraining — the pipeline is content-driven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214884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18304" y="2459736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on the same graph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718304" y="306324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sensor / SCADA fusion into the graph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 computer-vision digitisation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Multi-plant, multi-language field access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74736" y="214884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85632" y="2459736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Enterprise-ready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485632" y="306324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deployment · REST API · Swagger docs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automated tests · structured logging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fallback + LLM circuit-breaker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WINS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judging criterion, covered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441448"/>
            <a:ext cx="164592" cy="16459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14884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06240" y="2148840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knowledge graph + graph-augmented retrieval — not plain RAG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08376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3300984"/>
            <a:ext cx="164592" cy="164592"/>
          </a:xfrm>
          <a:prstGeom prst="ellipse">
            <a:avLst/>
          </a:prstGeom>
          <a:solidFill>
            <a:srgbClr val="4CC9F0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008376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06240" y="3008376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the 35% search-time and 18–22% downtime losses; captures retiring knowledge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867912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2688" y="4160520"/>
            <a:ext cx="164592" cy="164592"/>
          </a:xfrm>
          <a:prstGeom prst="ellipse">
            <a:avLst/>
          </a:prstGeom>
          <a:solidFill>
            <a:srgbClr val="46D07F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3867912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Excellence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206240" y="3867912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retrieval, grounded citations, benchmark, tests, Docker, resilience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727448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32688" y="5020056"/>
            <a:ext cx="164592" cy="164592"/>
          </a:xfrm>
          <a:prstGeom prst="ellipse">
            <a:avLst/>
          </a:prstGeom>
          <a:solidFill>
            <a:srgbClr val="F4C04A"/>
          </a:solidFill>
          <a:ln/>
        </p:spPr>
      </p:sp>
      <p:sp>
        <p:nvSpPr>
          <p:cNvPr id="19" name="Text 17"/>
          <p:cNvSpPr/>
          <p:nvPr/>
        </p:nvSpPr>
        <p:spPr>
          <a:xfrm>
            <a:off x="1280160" y="4727448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206240" y="4727448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Domain-agnostic pipeline — same brain for any asset-heavy sector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586984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" y="5879592"/>
            <a:ext cx="164592" cy="164592"/>
          </a:xfrm>
          <a:prstGeom prst="ellipse">
            <a:avLst/>
          </a:prstGeom>
          <a:solidFill>
            <a:srgbClr val="FF8C5F"/>
          </a:solidFill>
          <a:ln/>
        </p:spPr>
      </p:sp>
      <p:sp>
        <p:nvSpPr>
          <p:cNvPr id="23" name="Text 21"/>
          <p:cNvSpPr/>
          <p:nvPr/>
        </p:nvSpPr>
        <p:spPr>
          <a:xfrm>
            <a:off x="1280160" y="5586984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Experience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206240" y="5586984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UI, clickable citations, voice, command palette, mobile-ready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74520"/>
            <a:ext cx="960120" cy="960120"/>
          </a:xfrm>
          <a:prstGeom prst="roundRect">
            <a:avLst>
              <a:gd name="adj" fmla="val 15238"/>
            </a:avLst>
          </a:prstGeom>
          <a:solidFill>
            <a:srgbClr val="FF6B35"/>
          </a:solidFill>
          <a:ln/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18745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stays — even when the engineer retires.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Intelligence  ·  Unified Asset &amp; Operations Brain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(public GitHub + README)  ·  live demo  ·  </a:t>
            </a:r>
            <a:pPr indent="0" marL="0">
              <a:buNone/>
            </a:pPr>
            <a:r>
              <a:rPr lang="en-US" sz="1300" b="1" i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during the hackathon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Industrial Knowledge Intelligence</dc:title>
  <dc:subject>PptxGenJS Presentation</dc:subject>
  <dc:creator>ET AI Hackathon Team</dc:creator>
  <cp:lastModifiedBy>ET AI Hackathon Team</cp:lastModifiedBy>
  <cp:revision>1</cp:revision>
  <dcterms:created xsi:type="dcterms:W3CDTF">2026-07-03T07:04:26Z</dcterms:created>
  <dcterms:modified xsi:type="dcterms:W3CDTF">2026-07-03T07:04:26Z</dcterms:modified>
</cp:coreProperties>
</file>